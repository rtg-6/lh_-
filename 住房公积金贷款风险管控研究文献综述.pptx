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3791"/>
    <a:srgbClr val="950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22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BB5FA-37B5-4A9C-BC8C-44BE16BF20BF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72B9B-90E7-4600-B3C5-0D46CF16C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8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首先是研究背景。住房公积金贷款是住房公积金制度的重要功能之一，它具有政策性、互助性和低利率特点，能够帮助缴存职工降低购房成本，支持刚性住房需求。</a:t>
            </a:r>
          </a:p>
          <a:p>
            <a:r>
              <a:rPr lang="zh-CN" altLang="en-US" dirty="0"/>
              <a:t>但是，随着住房公积金贷款规模扩大，以及房地产市场波动、借款人结构变化和异地贷款业务发展，贷款风险也逐渐显现。已有研究指出，住房公积金贷款安全运行不仅关系到资金安全，也关系到制度的可持续发展和缴存职工权益。</a:t>
            </a:r>
          </a:p>
          <a:p>
            <a:r>
              <a:rPr lang="zh-CN" altLang="en-US" dirty="0"/>
              <a:t>目前来看，主要问题可以概括为五类：第一是信用风险，比如借款人收入下降、失业或家庭变故导致还款能力下降；第二是市场与抵押物风险，比如房价波动、楼盘烂尾或抵押物价值下降；第三是流动性风险，也就是贷款需求增加、资金流出扩大后，对公积金资金池形成压力；第四是贷后管理风险，比如逾期催收和贷款回收难；第五是异地贷款风险，主要表现为跨区域信息核实、异地催收和协同管理难度较高。</a:t>
            </a:r>
          </a:p>
          <a:p>
            <a:r>
              <a:rPr lang="zh-CN" altLang="en-US" dirty="0"/>
              <a:t>所以，本文选择住房公积金贷款风险管控作为综述主题，希望通过文献梳理，总结主要风险类型、形成原因和防控路径。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72B9B-90E7-4600-B3C5-0D46CF16C26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500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部分是研究目的及内容。本文的主要目的，是通过文献综述的方法，对住房公积金贷款风险管控领域的研究成果进行系统梳理。也就是说，我不是重新建立一个模型，而是先总结已有文献中关于贷款风险类型、风险成因和风险防控路径的主要观点。</a:t>
            </a:r>
          </a:p>
          <a:p>
            <a:r>
              <a:rPr lang="zh-CN" altLang="en-US" dirty="0"/>
              <a:t>具体来看，本文的研究内容主要包括五个方面。第一，梳理住房公积金贷款风险管控的研究现状；第二，归纳贷款风险的主要类型，包括信用风险、流动性风险、操作风险、贷后管理风险和异地贷款风险；第三，分析风险形成原因，例如借款人还款能力变化、房地产市场波动、管理机制不完善、跨区域协同不足等；第四，总结现有文献提出的防控路径，包括贷前审查、贷中控制、贷后管理、风险分类和数字化风控；第五，结合深圳住房公积金贷款管理实践，进一步分析地方实践对风险治理的启示。</a:t>
            </a:r>
          </a:p>
          <a:p>
            <a:r>
              <a:rPr lang="zh-CN" altLang="en-US" dirty="0"/>
              <a:t>因此，这一部分主要是说明本文要“综述什么”和“怎么展开综述”。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72B9B-90E7-4600-B3C5-0D46CF16C2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29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第三部分是技术路线。由于本文属于文献综述型研究，所以技术路线主要围绕文献检索、筛选、计量分析和问题评述展开。</a:t>
            </a:r>
          </a:p>
          <a:p>
            <a:r>
              <a:rPr lang="zh-CN" altLang="en-US" dirty="0"/>
              <a:t>首先，确定选题为住房公积金贷款风险管控。然后以中国知网为主要数据库，围绕“住房公积金贷款风险”“风险防控”“贷后管理”“流动性风险”“异地贷款风险”“数字化风控”等关键词检索相关文献。</a:t>
            </a:r>
          </a:p>
          <a:p>
            <a:r>
              <a:rPr lang="zh-CN" altLang="en-US" dirty="0"/>
              <a:t>接着，对检索到的文献进行筛选，重点保留与贷款风险类型、风险成因、防控路径、贷后管理和数字化风控相关的文献。</a:t>
            </a:r>
          </a:p>
          <a:p>
            <a:r>
              <a:rPr lang="zh-CN" altLang="en-US" dirty="0"/>
              <a:t>在此基础上，先进行文献计量分析，了解该领域的研究热点和主题分布；再采用问题导向的方式，从风险类型、风险成因和防控路径三个方面进行归纳评述。</a:t>
            </a:r>
          </a:p>
          <a:p>
            <a:r>
              <a:rPr lang="zh-CN" altLang="en-US" dirty="0"/>
              <a:t>最后，结合深圳住房公积金贷款管理实践，分析地方案例对风险治理的启示，并提出后续研究方向。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72B9B-90E7-4600-B3C5-0D46CF16C2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295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第四部分是创新点。由于本文是一篇文献综述，所以创新点不是提出新的模型，而是体现在综述视角和分析框架上。</a:t>
            </a:r>
          </a:p>
          <a:p>
            <a:r>
              <a:rPr lang="zh-CN" altLang="en-US" dirty="0"/>
              <a:t>第一，本文没有泛泛讨论住房公积金制度，而是聚焦住房公积金贷款风险管控问题。第二，在方法上，本文采用“文献计量 </a:t>
            </a:r>
            <a:r>
              <a:rPr lang="en-US" altLang="zh-CN" dirty="0"/>
              <a:t>+ </a:t>
            </a:r>
            <a:r>
              <a:rPr lang="zh-CN" altLang="en-US" dirty="0"/>
              <a:t>问题导向”的方式，既梳理研究热点，也围绕风险类型、风险成因和防控路径进行归纳。第三，在文献综述基础上，本文适当结合深圳实践，例如征信核查、公贷优先受偿、合作银行退出机制等，使综述更具有现实针对性。深圳材料中提到，引入百行征信用于贷中审批和贷后逾期催收，同时也探索公贷优先受偿规则和合作银行退出机制。</a:t>
            </a:r>
          </a:p>
          <a:p>
            <a:r>
              <a:rPr lang="zh-CN" altLang="en-US" dirty="0"/>
              <a:t>第四，本文还关注大数据和数字化风控。相关文献指出，大数据技术可以推动风险防控从人工经验判断转向数据决策、主动预警和全流程风险管理。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72B9B-90E7-4600-B3C5-0D46CF16C26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212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一部分是结论与方向。通过目前的文献梳理可以发现，住房公积金贷款风险主要包括信用风险、市场风险、操作风险、流动性风险、贷后管理风险和异地贷款风险。杨晶的研究将住房公积金贷款风险概括为信用风险、市场风险和操作风险等类型，并提出完善信用评估体系、强化市场风险监测和优化操作流程等防控策略。</a:t>
            </a:r>
          </a:p>
          <a:p>
            <a:r>
              <a:rPr lang="zh-CN" altLang="en-US" dirty="0"/>
              <a:t>同时，住房公积金贷款还面临资金安全和内部控制问题。任晓飞的研究从借款人、从业人员操作、房地产企业、政策制度和贷后管理等方面分析了贷款资金风险。 鞠燕妮的研究则进一步讨论了贷款风险准备金管理，指出风险准备金对于弥补贷款损失、保障资金安全具有重要作用。</a:t>
            </a:r>
          </a:p>
          <a:p>
            <a:r>
              <a:rPr lang="zh-CN" altLang="en-US" dirty="0"/>
              <a:t>从后续方向来看，一是要加强贷前、贷中、贷后全流程风险管控；二是要完善逾期贷款催收和风险准备金机制；三是要推进异地贷款协同和跨区域数据共享。孙文娟的研究指出，异地贷款存在贷前信息核实困难、各地标准差异和贷后管理难度大的问题。</a:t>
            </a:r>
          </a:p>
          <a:p>
            <a:r>
              <a:rPr lang="zh-CN" altLang="en-US" dirty="0"/>
              <a:t>此外，未来还需要强化大数据、征信和智能预警在风险防控中的应用。数字化赋能相关研究表明，贷款风险管理可以覆盖申请受理、调查审核、审批发放、贷后管理和结清回收全过程。 因此，住房公积金贷款风险管控未来应向数据化、协同化和全流程治理方向发展。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72B9B-90E7-4600-B3C5-0D46CF16C26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149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73E0B-5765-FAFC-AEA1-AA41B4DF1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F044E2-E586-B839-F870-6A34A6915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385FF5-8770-8ED7-CD5E-766722CE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B7D70D-F0DC-300B-B12E-1B705147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D785C6-30B7-612A-A1BC-8A2F189B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883FD-3818-C0BC-026E-61F734CE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144DED-EE43-2316-4447-1D41A91EF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887808-F752-E18E-93C6-394E4698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75400B-733F-3F67-DB14-9969F094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6FA78-2474-076D-49DD-5DF4E230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3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16463-C00B-0F67-242C-E85FD46A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5B1BE2-6BC5-63EE-2BFD-CC5A3610E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005CFA-A584-EE7F-61A8-56D9DC9A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BC69FC-FDCA-AB14-629C-6D48A945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E2C72-D9B0-3E36-3AA4-0A3035AC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94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8CFED-3E9F-05FC-2572-5CB9F13C8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AD723E-55A1-2E29-9676-CD74694CB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065E3F-402E-228B-F77D-395B01B5A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5E331-6EA6-A7C7-C0E8-D583EC8E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E824EF-405E-CBFC-A727-A6A48069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EC7C5-B870-2B77-5165-347D1EDA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07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A82DA-FE77-855A-99BD-ABF25E46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DC2F09-FB8E-F232-578C-BA99ADD0B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F318A8-C292-3F30-7AAB-E107B0AEE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507B72-E7C0-7C0E-554B-7EAEEC4D4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8BBE21-83D3-5DDE-2DE5-CF8C915D1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4C2F8F-3B37-B68A-E9A8-E921784F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1D770E-3FEB-754C-7604-8437E200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A0F38C3-B9B1-D397-DE86-5383EA6A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8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E2AA1-E82A-29AD-59F2-8845576F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0185B2-8323-0FB8-8B13-95CA4672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1DF426-6D2D-26BD-5342-472C2757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DD3A0D-ADB4-670B-1C6D-615CC510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8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1435CB-B9BF-1D3D-1ED6-A6434830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BA4A9C-1E14-8FB3-ED7E-7B6014AC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4A9A13-19CB-0B14-6119-D1A9681A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94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61893-55A6-9B13-E839-C5F211C2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EF7CE8-BBE4-6BF7-4A12-B6AE03BB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A862-5EB6-B8D5-1558-9CD92EA59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5F543F-0D64-84C7-FB43-F809CB99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8ACE4E-9867-0A48-3789-FC9A93BC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D8DF64-F634-B039-12AE-F1EE7E4E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178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00E77-6865-FC43-B1F8-485DBA21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349769-3A1C-5035-04AF-ED5B052B6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657E7C-F6C0-98B6-C82E-1A009CEF9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C2715F-A992-1FD0-7E17-604ADDCF9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77A248-F277-D196-23DA-732132BE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C122C0-B677-2D5C-9FC3-EFE9B493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70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0D81A-4763-1A10-5FB6-D3153C8D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6CC89-C6A0-52AC-78AD-D7963F4EA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A2859-3AAD-13ED-C07B-5D0A9A63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B07EFA-E4F6-3F4E-BD26-47516397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5ABE1F-5CD4-3A9E-76D7-95C894B0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14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854F6C-EF65-C295-2061-3A872A82A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69C0E5-AB8B-A91D-E0C6-8F376F715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D84A94-86DC-0ACA-5993-BD529BC8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1E552-FFDC-439C-277D-09709AE5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7B0F7-3879-887E-56F4-C72DD2D0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34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732366-0ED0-2B9B-2450-648103CA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8DBAD1-07F7-66C6-8022-6540B22F9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D4E144-7E8E-F05E-B033-B38AF3887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226D2-6CBE-4E6D-A65D-1D1FF84A352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30CB7C-95FB-236F-EAE3-31B258A7B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1522B-50DB-3942-E629-3A74670B8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A69E7-77BB-45D8-B72A-EB15D90412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83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ECC83FE-86B6-A15A-D8A4-9BFF9ACA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169" y="1986461"/>
            <a:ext cx="333829" cy="21764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5B54376-C1F2-0A05-077D-ABF68ED6C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8230"/>
            <a:ext cx="333828" cy="217646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C5B89BF-306B-B424-2661-221F77E48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824" y="2436887"/>
            <a:ext cx="11524341" cy="720000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zh-CN" altLang="en-US" sz="42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住房公积金贷款风险管控研究文献综述</a:t>
            </a:r>
            <a:endParaRPr lang="zh-CN" altLang="en-US" sz="4200" b="1" dirty="0">
              <a:solidFill>
                <a:srgbClr val="9507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F7985417-3CC2-D190-AA0A-803F865E6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37189" r="5577" b="37132"/>
          <a:stretch>
            <a:fillRect/>
          </a:stretch>
        </p:blipFill>
        <p:spPr>
          <a:xfrm>
            <a:off x="8847297" y="76702"/>
            <a:ext cx="2455201" cy="720000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4F486BAD-7994-C176-2237-CDAA3660A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23" y="77426"/>
            <a:ext cx="720000" cy="72000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D29E417-EFC0-305B-B084-40126339B397}"/>
              </a:ext>
            </a:extLst>
          </p:cNvPr>
          <p:cNvSpPr txBox="1">
            <a:spLocks/>
          </p:cNvSpPr>
          <p:nvPr/>
        </p:nvSpPr>
        <p:spPr>
          <a:xfrm>
            <a:off x="333824" y="3350885"/>
            <a:ext cx="11524341" cy="8038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endParaRPr lang="zh-CN" altLang="en-US" sz="2400" b="1" dirty="0">
              <a:solidFill>
                <a:srgbClr val="6B379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98AF35-F3BD-3389-1BDB-6B58904FE4BF}"/>
              </a:ext>
            </a:extLst>
          </p:cNvPr>
          <p:cNvSpPr txBox="1"/>
          <p:nvPr/>
        </p:nvSpPr>
        <p:spPr>
          <a:xfrm>
            <a:off x="2457449" y="4872412"/>
            <a:ext cx="2628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姓      名</a:t>
            </a:r>
            <a:r>
              <a:rPr lang="zh-CN" altLang="en-US" sz="18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李昊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23038A-774C-EF72-F90F-A9421E722C9A}"/>
              </a:ext>
            </a:extLst>
          </p:cNvPr>
          <p:cNvSpPr txBox="1"/>
          <p:nvPr/>
        </p:nvSpPr>
        <p:spPr>
          <a:xfrm>
            <a:off x="2457449" y="5795742"/>
            <a:ext cx="3819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      位</a:t>
            </a:r>
            <a:r>
              <a:rPr lang="zh-CN" altLang="en-US" sz="18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深圳大学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土木与交通学院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9D13BC-F3FC-EC5E-DF1B-1A805F8B6337}"/>
              </a:ext>
            </a:extLst>
          </p:cNvPr>
          <p:cNvSpPr txBox="1"/>
          <p:nvPr/>
        </p:nvSpPr>
        <p:spPr>
          <a:xfrm>
            <a:off x="6774047" y="5795742"/>
            <a:ext cx="4143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日       期</a:t>
            </a:r>
            <a:r>
              <a:rPr lang="zh-CN" altLang="en-US" sz="18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日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3CDDED-ADAB-B560-7881-659D25666EC2}"/>
              </a:ext>
            </a:extLst>
          </p:cNvPr>
          <p:cNvSpPr txBox="1"/>
          <p:nvPr/>
        </p:nvSpPr>
        <p:spPr>
          <a:xfrm>
            <a:off x="2457450" y="5334077"/>
            <a:ext cx="363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学      号</a:t>
            </a:r>
            <a:r>
              <a:rPr lang="zh-CN" altLang="en-US" sz="18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2510214224</a:t>
            </a:r>
            <a:endParaRPr lang="zh-CN" altLang="en-US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E2D43B9-D618-90BF-01EC-0A5BBCF41955}"/>
              </a:ext>
            </a:extLst>
          </p:cNvPr>
          <p:cNvSpPr txBox="1"/>
          <p:nvPr/>
        </p:nvSpPr>
        <p:spPr>
          <a:xfrm>
            <a:off x="6774047" y="4872412"/>
            <a:ext cx="3469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课      程</a:t>
            </a:r>
            <a:r>
              <a:rPr lang="zh-CN" altLang="en-US" sz="18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房地产经济</a:t>
            </a:r>
            <a:endParaRPr lang="zh-CN" altLang="en-US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C828AC-96A2-8112-F9B4-5397D0C94EC6}"/>
              </a:ext>
            </a:extLst>
          </p:cNvPr>
          <p:cNvSpPr txBox="1"/>
          <p:nvPr/>
        </p:nvSpPr>
        <p:spPr>
          <a:xfrm>
            <a:off x="6774047" y="5334077"/>
            <a:ext cx="2847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任课老师：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宋博通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0984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0A0F-B96B-17FA-3BA4-1AEBC56A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B33E2612-7328-E480-B353-5EACE9FC5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37189" r="5577" b="37132"/>
          <a:stretch>
            <a:fillRect/>
          </a:stretch>
        </p:blipFill>
        <p:spPr>
          <a:xfrm>
            <a:off x="8847297" y="76702"/>
            <a:ext cx="2455201" cy="720000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8D51B6DA-D22F-D7D4-1CDF-B6E4C94E3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23" y="77426"/>
            <a:ext cx="720000" cy="720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32B7596-1783-0552-FF9C-C183BC8E2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044"/>
            <a:ext cx="12192000" cy="54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33000">
                <a:srgbClr val="6B3791"/>
              </a:gs>
              <a:gs pos="66000">
                <a:srgbClr val="950740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6B3791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899021-C0F8-5434-6B42-73BE608174A0}"/>
              </a:ext>
            </a:extLst>
          </p:cNvPr>
          <p:cNvSpPr txBox="1"/>
          <p:nvPr/>
        </p:nvSpPr>
        <p:spPr>
          <a:xfrm>
            <a:off x="228081" y="144314"/>
            <a:ext cx="4888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研究背景及存在问题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CDD8DD5-405B-D774-74B0-A12DEFA44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A20BF-C5EE-A25A-9C19-D6C88F83E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住房公积金贷款是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支持职工住房消费的重要政策性金融工具。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住房公积金贷款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具有低利率、长期性和互助性特点，有助于降低居民购房成本。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住房公积金贷款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安全运行关系到住房公积金制度可持续发展和缴存职工权益。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随着住房公积金贷款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规模扩大、房地产市场波动和借款人结构变化，风险管控重要性上升。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024A872A-C1B4-1706-5520-5423D4B09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47870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信用风险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：借款人收入下降、失业、家庭变故等影响还款能力。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市场与抵押物风险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：房价波动、预售项目延期交付、楼盘烂尾等影响贷款安全。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流动性风险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：贷款需求扩大、资金流入流出不平衡，加剧资金池压力。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贷后管理风险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：逾期催收、贷款回收、内部审计和档案管理仍存在难点。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异地贷款风险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：跨区域信息核实、异地催收和协同管理难度较高。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9124B5-C1F2-2645-B13B-270D2BB66F4F}"/>
              </a:ext>
            </a:extLst>
          </p:cNvPr>
          <p:cNvSpPr txBox="1"/>
          <p:nvPr/>
        </p:nvSpPr>
        <p:spPr>
          <a:xfrm>
            <a:off x="838200" y="1082447"/>
            <a:ext cx="48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6B37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3813C9-9FB6-F6E1-5E50-E83EFD406A5C}"/>
              </a:ext>
            </a:extLst>
          </p:cNvPr>
          <p:cNvSpPr txBox="1"/>
          <p:nvPr/>
        </p:nvSpPr>
        <p:spPr>
          <a:xfrm>
            <a:off x="6174067" y="1082446"/>
            <a:ext cx="48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6B37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</p:spTree>
    <p:extLst>
      <p:ext uri="{BB962C8B-B14F-4D97-AF65-F5344CB8AC3E}">
        <p14:creationId xmlns:p14="http://schemas.microsoft.com/office/powerpoint/2010/main" val="3619283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F8C9-9268-0270-354E-6001A5A5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39E5C53E-2733-2780-FFEC-97F72019E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37189" r="5577" b="37132"/>
          <a:stretch>
            <a:fillRect/>
          </a:stretch>
        </p:blipFill>
        <p:spPr>
          <a:xfrm>
            <a:off x="8847297" y="76702"/>
            <a:ext cx="2455201" cy="720000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9BC9E84A-8F7C-D4D8-6846-E05C9340E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23" y="77426"/>
            <a:ext cx="720000" cy="720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2852AD6-1D7A-A3C8-FDC8-AF927DC15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044"/>
            <a:ext cx="12192000" cy="54000"/>
          </a:xfrm>
          <a:prstGeom prst="rect">
            <a:avLst/>
          </a:prstGeom>
          <a:gradFill>
            <a:gsLst>
              <a:gs pos="33000">
                <a:srgbClr val="6B3791"/>
              </a:gs>
              <a:gs pos="100000">
                <a:schemeClr val="bg1"/>
              </a:gs>
              <a:gs pos="66000">
                <a:srgbClr val="95074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6B3791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B97F6F-CFA3-8989-4335-207552481FAB}"/>
              </a:ext>
            </a:extLst>
          </p:cNvPr>
          <p:cNvSpPr txBox="1"/>
          <p:nvPr/>
        </p:nvSpPr>
        <p:spPr>
          <a:xfrm>
            <a:off x="228081" y="144314"/>
            <a:ext cx="3946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研究目的及内容</a:t>
            </a:r>
          </a:p>
        </p:txBody>
      </p:sp>
      <p:sp>
        <p:nvSpPr>
          <p:cNvPr id="9" name="内容占位符 19">
            <a:extLst>
              <a:ext uri="{FF2B5EF4-FFF2-40B4-BE49-F238E27FC236}">
                <a16:creationId xmlns:a16="http://schemas.microsoft.com/office/drawing/2014/main" id="{CECC7898-638B-6461-8FD4-570F30E8553A}"/>
              </a:ext>
            </a:extLst>
          </p:cNvPr>
          <p:cNvSpPr txBox="1">
            <a:spLocks/>
          </p:cNvSpPr>
          <p:nvPr/>
        </p:nvSpPr>
        <p:spPr>
          <a:xfrm>
            <a:off x="264816" y="1266824"/>
            <a:ext cx="11679534" cy="2162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F5C61-0F8D-A53E-BB3F-D4402BDBCC93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51816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内容占位符 8">
            <a:extLst>
              <a:ext uri="{FF2B5EF4-FFF2-40B4-BE49-F238E27FC236}">
                <a16:creationId xmlns:a16="http://schemas.microsoft.com/office/drawing/2014/main" id="{2917C48C-7DA2-D16A-AF41-993B2E23E550}"/>
              </a:ext>
            </a:extLst>
          </p:cNvPr>
          <p:cNvSpPr txBox="1">
            <a:spLocks/>
          </p:cNvSpPr>
          <p:nvPr/>
        </p:nvSpPr>
        <p:spPr>
          <a:xfrm>
            <a:off x="6172200" y="1825624"/>
            <a:ext cx="5181600" cy="50478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研究现状梳理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：整理住房公积金贷款风险管控相关文献。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风险类型归纳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：信用风险、流动性风险、操作风险、贷后管理风险、异地贷款风险。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风险成因分析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：借款人、房地产市场、管理机制、政策制度等因素。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防控路径总结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：贷前审查、贷中控制、贷后管理、数字化风控。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案例与方向分析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：结合深圳实践，总结后续优化方向。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B234CD-6A00-2A25-5182-97104C2A6955}"/>
              </a:ext>
            </a:extLst>
          </p:cNvPr>
          <p:cNvSpPr txBox="1"/>
          <p:nvPr/>
        </p:nvSpPr>
        <p:spPr>
          <a:xfrm>
            <a:off x="6174067" y="1082446"/>
            <a:ext cx="48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6B37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673802-9AA1-4820-B0E7-765A410FCCAE}"/>
              </a:ext>
            </a:extLst>
          </p:cNvPr>
          <p:cNvSpPr txBox="1"/>
          <p:nvPr/>
        </p:nvSpPr>
        <p:spPr>
          <a:xfrm>
            <a:off x="838200" y="1082447"/>
            <a:ext cx="48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6B37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研究目的</a:t>
            </a:r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6EFABBCB-9FEF-24F1-1147-28CD27B6B8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系统梳理住房公积金贷款风险管控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相关研究成果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归纳贷款风险的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主要类型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形成原因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防控路径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分析现有研究不足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，为后续政策优化和风险治理提供参考。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结合深圳实践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，增强研究的现实针对性。</a:t>
            </a:r>
          </a:p>
        </p:txBody>
      </p:sp>
    </p:spTree>
    <p:extLst>
      <p:ext uri="{BB962C8B-B14F-4D97-AF65-F5344CB8AC3E}">
        <p14:creationId xmlns:p14="http://schemas.microsoft.com/office/powerpoint/2010/main" val="198693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79DC-5B6A-7941-6190-4D1755845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2745AA8B-B65E-E954-629D-D2EA4B0F5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37189" r="5577" b="37132"/>
          <a:stretch>
            <a:fillRect/>
          </a:stretch>
        </p:blipFill>
        <p:spPr>
          <a:xfrm>
            <a:off x="8847297" y="76702"/>
            <a:ext cx="2455201" cy="720000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7BCC01A0-7D5E-618B-C44F-8FCF96B35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23" y="77426"/>
            <a:ext cx="720000" cy="720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9D52FD7-E958-E87B-2E45-A52099FF9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044"/>
            <a:ext cx="12192000" cy="54000"/>
          </a:xfrm>
          <a:prstGeom prst="rect">
            <a:avLst/>
          </a:prstGeom>
          <a:gradFill flip="none" rotWithShape="1">
            <a:gsLst>
              <a:gs pos="33000">
                <a:srgbClr val="6B3791"/>
              </a:gs>
              <a:gs pos="100000">
                <a:schemeClr val="bg1"/>
              </a:gs>
              <a:gs pos="100000">
                <a:schemeClr val="bg1"/>
              </a:gs>
              <a:gs pos="66000">
                <a:srgbClr val="95074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6B3791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CB0472-D45C-835D-FA75-390AC32CCBAE}"/>
              </a:ext>
            </a:extLst>
          </p:cNvPr>
          <p:cNvSpPr txBox="1"/>
          <p:nvPr/>
        </p:nvSpPr>
        <p:spPr>
          <a:xfrm>
            <a:off x="228081" y="144314"/>
            <a:ext cx="3116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C498BDA-60C5-F9FF-76DE-1625583EE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2FDEC6-43F6-F020-0357-A30D2C0DC32B}"/>
              </a:ext>
            </a:extLst>
          </p:cNvPr>
          <p:cNvSpPr/>
          <p:nvPr/>
        </p:nvSpPr>
        <p:spPr>
          <a:xfrm>
            <a:off x="88437" y="1877074"/>
            <a:ext cx="1433779" cy="768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选题确定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37E237E-CBB5-21F9-D186-82CB4952F823}"/>
              </a:ext>
            </a:extLst>
          </p:cNvPr>
          <p:cNvSpPr/>
          <p:nvPr/>
        </p:nvSpPr>
        <p:spPr>
          <a:xfrm>
            <a:off x="1676024" y="2052638"/>
            <a:ext cx="539667" cy="416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2D65C-1621-232C-C658-932E3532E116}"/>
              </a:ext>
            </a:extLst>
          </p:cNvPr>
          <p:cNvSpPr/>
          <p:nvPr/>
        </p:nvSpPr>
        <p:spPr>
          <a:xfrm>
            <a:off x="2369499" y="1877073"/>
            <a:ext cx="1433779" cy="768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文献检索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C2FB297-14E6-8312-CAEA-A7F7998ADE2E}"/>
              </a:ext>
            </a:extLst>
          </p:cNvPr>
          <p:cNvSpPr/>
          <p:nvPr/>
        </p:nvSpPr>
        <p:spPr>
          <a:xfrm>
            <a:off x="3957086" y="2052638"/>
            <a:ext cx="539667" cy="416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5043CE-E921-F801-0A40-98C627115040}"/>
              </a:ext>
            </a:extLst>
          </p:cNvPr>
          <p:cNvSpPr/>
          <p:nvPr/>
        </p:nvSpPr>
        <p:spPr>
          <a:xfrm>
            <a:off x="4650561" y="1877073"/>
            <a:ext cx="1433779" cy="768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文献筛选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2AE6F17C-05A9-3555-9F15-73134E15FB1A}"/>
              </a:ext>
            </a:extLst>
          </p:cNvPr>
          <p:cNvSpPr/>
          <p:nvPr/>
        </p:nvSpPr>
        <p:spPr>
          <a:xfrm>
            <a:off x="6238148" y="2052638"/>
            <a:ext cx="539667" cy="416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85EDBB-E34F-960E-6C51-C4CD1BAFAEAB}"/>
              </a:ext>
            </a:extLst>
          </p:cNvPr>
          <p:cNvSpPr/>
          <p:nvPr/>
        </p:nvSpPr>
        <p:spPr>
          <a:xfrm>
            <a:off x="6931623" y="1877073"/>
            <a:ext cx="2160356" cy="768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文献计量分析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4BD10162-3862-4613-1360-44781E0B344E}"/>
              </a:ext>
            </a:extLst>
          </p:cNvPr>
          <p:cNvSpPr/>
          <p:nvPr/>
        </p:nvSpPr>
        <p:spPr>
          <a:xfrm>
            <a:off x="9245787" y="2051757"/>
            <a:ext cx="539667" cy="416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AD35D7-A7B9-8851-2494-B595EF5CE927}"/>
              </a:ext>
            </a:extLst>
          </p:cNvPr>
          <p:cNvSpPr/>
          <p:nvPr/>
        </p:nvSpPr>
        <p:spPr>
          <a:xfrm>
            <a:off x="9939262" y="1877073"/>
            <a:ext cx="2160356" cy="768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问题导向评述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555288C0-0A52-C67B-5A13-D39E3963F533}"/>
              </a:ext>
            </a:extLst>
          </p:cNvPr>
          <p:cNvSpPr/>
          <p:nvPr/>
        </p:nvSpPr>
        <p:spPr>
          <a:xfrm>
            <a:off x="88437" y="4507489"/>
            <a:ext cx="539667" cy="416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985E10-0044-1ECF-A1CF-8F67282F3160}"/>
              </a:ext>
            </a:extLst>
          </p:cNvPr>
          <p:cNvSpPr/>
          <p:nvPr/>
        </p:nvSpPr>
        <p:spPr>
          <a:xfrm>
            <a:off x="781912" y="4331924"/>
            <a:ext cx="1433779" cy="768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结合深圳</a:t>
            </a:r>
          </a:p>
        </p:txBody>
      </p:sp>
      <p:sp>
        <p:nvSpPr>
          <p:cNvPr id="21" name="内容占位符 16">
            <a:extLst>
              <a:ext uri="{FF2B5EF4-FFF2-40B4-BE49-F238E27FC236}">
                <a16:creationId xmlns:a16="http://schemas.microsoft.com/office/drawing/2014/main" id="{C036F069-43D0-9402-6F59-DC462D833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9498" y="2645169"/>
            <a:ext cx="1433779" cy="50768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知网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216F3BDA-BCEA-1330-B1B8-70C6ECA76ADA}"/>
              </a:ext>
            </a:extLst>
          </p:cNvPr>
          <p:cNvSpPr/>
          <p:nvPr/>
        </p:nvSpPr>
        <p:spPr>
          <a:xfrm>
            <a:off x="2369498" y="4507489"/>
            <a:ext cx="539667" cy="416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A00B3A-5BA0-AEB9-5E48-D8C76E56D83B}"/>
              </a:ext>
            </a:extLst>
          </p:cNvPr>
          <p:cNvSpPr/>
          <p:nvPr/>
        </p:nvSpPr>
        <p:spPr>
          <a:xfrm>
            <a:off x="3062973" y="4331924"/>
            <a:ext cx="1433779" cy="768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结论展望</a:t>
            </a:r>
          </a:p>
        </p:txBody>
      </p:sp>
      <p:sp>
        <p:nvSpPr>
          <p:cNvPr id="24" name="内容占位符 16">
            <a:extLst>
              <a:ext uri="{FF2B5EF4-FFF2-40B4-BE49-F238E27FC236}">
                <a16:creationId xmlns:a16="http://schemas.microsoft.com/office/drawing/2014/main" id="{CDBEBBEB-1FC2-D74A-EC69-7F996A89E78A}"/>
              </a:ext>
            </a:extLst>
          </p:cNvPr>
          <p:cNvSpPr txBox="1">
            <a:spLocks/>
          </p:cNvSpPr>
          <p:nvPr/>
        </p:nvSpPr>
        <p:spPr>
          <a:xfrm>
            <a:off x="4650557" y="2645169"/>
            <a:ext cx="1706350" cy="2579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贷款风险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贷后管理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流动性风险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异地贷款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数字化风控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内容占位符 16">
            <a:extLst>
              <a:ext uri="{FF2B5EF4-FFF2-40B4-BE49-F238E27FC236}">
                <a16:creationId xmlns:a16="http://schemas.microsoft.com/office/drawing/2014/main" id="{7AAF5360-1F59-825B-3594-C76F5A63C2B2}"/>
              </a:ext>
            </a:extLst>
          </p:cNvPr>
          <p:cNvSpPr txBox="1">
            <a:spLocks/>
          </p:cNvSpPr>
          <p:nvPr/>
        </p:nvSpPr>
        <p:spPr>
          <a:xfrm>
            <a:off x="6931620" y="2645169"/>
            <a:ext cx="2160356" cy="1578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发文趋势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关键词热点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研究主题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内容占位符 16">
            <a:extLst>
              <a:ext uri="{FF2B5EF4-FFF2-40B4-BE49-F238E27FC236}">
                <a16:creationId xmlns:a16="http://schemas.microsoft.com/office/drawing/2014/main" id="{25641D5B-1A3A-7A04-6966-FC2A3C4B45FE}"/>
              </a:ext>
            </a:extLst>
          </p:cNvPr>
          <p:cNvSpPr txBox="1">
            <a:spLocks/>
          </p:cNvSpPr>
          <p:nvPr/>
        </p:nvSpPr>
        <p:spPr>
          <a:xfrm>
            <a:off x="9939259" y="2645169"/>
            <a:ext cx="2160356" cy="1578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风险类型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风险成因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防控路径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内容占位符 16">
            <a:extLst>
              <a:ext uri="{FF2B5EF4-FFF2-40B4-BE49-F238E27FC236}">
                <a16:creationId xmlns:a16="http://schemas.microsoft.com/office/drawing/2014/main" id="{D1484CE3-0C54-7057-4C67-2D54F22058F9}"/>
              </a:ext>
            </a:extLst>
          </p:cNvPr>
          <p:cNvSpPr txBox="1">
            <a:spLocks/>
          </p:cNvSpPr>
          <p:nvPr/>
        </p:nvSpPr>
        <p:spPr>
          <a:xfrm>
            <a:off x="781912" y="5100020"/>
            <a:ext cx="2562792" cy="1578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征信核查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合作银行管理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异地贷款回收风险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642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FE476-CEBA-708F-075E-8F09D559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E5E886EF-6568-D3D7-DE05-C66810DBA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37189" r="5577" b="37132"/>
          <a:stretch>
            <a:fillRect/>
          </a:stretch>
        </p:blipFill>
        <p:spPr>
          <a:xfrm>
            <a:off x="8847297" y="76702"/>
            <a:ext cx="2455201" cy="720000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05EC0B70-7FB8-136A-8041-A1FAF1F1A0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23" y="77426"/>
            <a:ext cx="720000" cy="720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8CEC0D6-9511-FB69-151A-9F9224AD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044"/>
            <a:ext cx="12192000" cy="54000"/>
          </a:xfrm>
          <a:prstGeom prst="rect">
            <a:avLst/>
          </a:prstGeom>
          <a:gradFill flip="none" rotWithShape="1">
            <a:gsLst>
              <a:gs pos="33000">
                <a:srgbClr val="6B3791"/>
              </a:gs>
              <a:gs pos="100000">
                <a:schemeClr val="bg1"/>
              </a:gs>
              <a:gs pos="100000">
                <a:schemeClr val="bg1"/>
              </a:gs>
              <a:gs pos="66000">
                <a:srgbClr val="95074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6B3791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6D2170-F9A7-8D8E-C564-7ADF89B44BF5}"/>
              </a:ext>
            </a:extLst>
          </p:cNvPr>
          <p:cNvSpPr txBox="1"/>
          <p:nvPr/>
        </p:nvSpPr>
        <p:spPr>
          <a:xfrm>
            <a:off x="228081" y="144314"/>
            <a:ext cx="3116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C8EA983-1D31-1CEF-430A-A5364C2EB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A20602-0D44-77C7-6762-285B7DBA8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88123" cy="4351338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聚焦“住房公积金贷款风险管控”，而非泛泛讨论住房公积金制度。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采用“文献计量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问题导向”的方式，梳理研究热点、风险类型、风险成因与防控路径。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结合深圳住房公积金贷款管理实践，关注征信核查、公贷优先受偿、合作银行管理等现实措施。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将大数据、数字化风控、风险预测和智能预警纳入后续研究方向。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527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79B5-A9A3-E86C-2B96-19DC522A8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21FAC8AE-2221-0F6C-2176-F32446F32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37189" r="5577" b="37132"/>
          <a:stretch>
            <a:fillRect/>
          </a:stretch>
        </p:blipFill>
        <p:spPr>
          <a:xfrm>
            <a:off x="8847297" y="76702"/>
            <a:ext cx="2455201" cy="720000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CA42C330-15DA-1D70-73CD-35F497E1AE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23" y="77426"/>
            <a:ext cx="720000" cy="720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CC37CCD-A46D-4FE7-C4F5-AEBFD778F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044"/>
            <a:ext cx="12192000" cy="54000"/>
          </a:xfrm>
          <a:prstGeom prst="rect">
            <a:avLst/>
          </a:prstGeom>
          <a:gradFill flip="none" rotWithShape="1">
            <a:gsLst>
              <a:gs pos="33000">
                <a:srgbClr val="6B3791"/>
              </a:gs>
              <a:gs pos="100000">
                <a:schemeClr val="bg1"/>
              </a:gs>
              <a:gs pos="100000">
                <a:schemeClr val="bg1"/>
              </a:gs>
              <a:gs pos="66000">
                <a:srgbClr val="95074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6B3791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D5426B-75B0-11CC-A022-2FD1641236E5}"/>
              </a:ext>
            </a:extLst>
          </p:cNvPr>
          <p:cNvSpPr txBox="1"/>
          <p:nvPr/>
        </p:nvSpPr>
        <p:spPr>
          <a:xfrm>
            <a:off x="228081" y="144314"/>
            <a:ext cx="3116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507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结论及方向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DC6DCCE-4EB0-3EFB-AC3B-AFE35302B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内容占位符 8">
            <a:extLst>
              <a:ext uri="{FF2B5EF4-FFF2-40B4-BE49-F238E27FC236}">
                <a16:creationId xmlns:a16="http://schemas.microsoft.com/office/drawing/2014/main" id="{ADE43227-9439-3AF0-60D7-E633333FF310}"/>
              </a:ext>
            </a:extLst>
          </p:cNvPr>
          <p:cNvSpPr txBox="1">
            <a:spLocks/>
          </p:cNvSpPr>
          <p:nvPr/>
        </p:nvSpPr>
        <p:spPr>
          <a:xfrm>
            <a:off x="6172200" y="1825624"/>
            <a:ext cx="5181600" cy="50478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加强贷前、贷中、贷后全流程风险管控。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完善逾期贷款催收、风险准备金和优先受偿机制。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推进异地贷款协同和跨区域数据共享。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强化大数据、征信和智能预警在风险防控中的应用。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96A785-8D45-30E1-3135-EA371745755D}"/>
              </a:ext>
            </a:extLst>
          </p:cNvPr>
          <p:cNvSpPr txBox="1"/>
          <p:nvPr/>
        </p:nvSpPr>
        <p:spPr>
          <a:xfrm>
            <a:off x="6174067" y="1082446"/>
            <a:ext cx="48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6B37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后续方向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565362-5793-6ACE-87CB-8F3B63ACA51D}"/>
              </a:ext>
            </a:extLst>
          </p:cNvPr>
          <p:cNvSpPr txBox="1"/>
          <p:nvPr/>
        </p:nvSpPr>
        <p:spPr>
          <a:xfrm>
            <a:off x="838200" y="1082447"/>
            <a:ext cx="48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6B37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初步结论</a:t>
            </a:r>
          </a:p>
        </p:txBody>
      </p:sp>
      <p:sp>
        <p:nvSpPr>
          <p:cNvPr id="12" name="内容占位符 16">
            <a:extLst>
              <a:ext uri="{FF2B5EF4-FFF2-40B4-BE49-F238E27FC236}">
                <a16:creationId xmlns:a16="http://schemas.microsoft.com/office/drawing/2014/main" id="{F32586E5-26A9-0EF2-80D0-74238183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住房公积金贷款风险主要包括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信用风险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市场风险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操作风险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流动性风险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贷后管理风险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异地贷款风险。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现有研究较多关注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风险识别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风险成因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一般防控措施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数字化风控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异地贷款协同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贷后处置机制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仍是后续研究需要深化的方向。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深圳实践显示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，风险管控正由传统人工审查向征信核查、合作银行约束和贷后处置优化拓展。</a:t>
            </a:r>
          </a:p>
        </p:txBody>
      </p:sp>
    </p:spTree>
    <p:extLst>
      <p:ext uri="{BB962C8B-B14F-4D97-AF65-F5344CB8AC3E}">
        <p14:creationId xmlns:p14="http://schemas.microsoft.com/office/powerpoint/2010/main" val="1088980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1801</Words>
  <Application>Microsoft Office PowerPoint</Application>
  <PresentationFormat>宽屏</PresentationFormat>
  <Paragraphs>97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住房公积金贷款风险管控研究文献综述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州 周</dc:creator>
  <cp:lastModifiedBy>梅柳课题组</cp:lastModifiedBy>
  <cp:revision>24</cp:revision>
  <dcterms:created xsi:type="dcterms:W3CDTF">2025-11-01T02:56:17Z</dcterms:created>
  <dcterms:modified xsi:type="dcterms:W3CDTF">2026-05-06T14:20:54Z</dcterms:modified>
</cp:coreProperties>
</file>